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13232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1148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7132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60" kern="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</a:t>
            </a:r>
            <a:endParaRPr lang="en-US" sz="7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334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F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Needle Exchange Assistant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6382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needle control, verification and traceability for our sewing production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133088"/>
            <a:ext cx="1481328" cy="1207008"/>
          </a:xfrm>
          <a:prstGeom prst="roundRect">
            <a:avLst>
              <a:gd name="adj" fmla="val 8333"/>
            </a:avLst>
          </a:prstGeom>
          <a:solidFill>
            <a:srgbClr val="1148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43159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78408" y="4663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78408" y="491947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input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04872" y="4133088"/>
            <a:ext cx="1481328" cy="1207008"/>
          </a:xfrm>
          <a:prstGeom prst="roundRect">
            <a:avLst>
              <a:gd name="adj" fmla="val 8333"/>
            </a:avLst>
          </a:prstGeom>
          <a:solidFill>
            <a:srgbClr val="1148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431596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06040" y="4663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606040" y="491947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process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032504" y="4133088"/>
            <a:ext cx="1481328" cy="1207008"/>
          </a:xfrm>
          <a:prstGeom prst="roundRect">
            <a:avLst>
              <a:gd name="adj" fmla="val 8333"/>
            </a:avLst>
          </a:prstGeom>
          <a:solidFill>
            <a:srgbClr val="1148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431596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233672" y="4663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233672" y="491947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release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660136" y="4133088"/>
            <a:ext cx="1481328" cy="1207008"/>
          </a:xfrm>
          <a:prstGeom prst="roundRect">
            <a:avLst>
              <a:gd name="adj" fmla="val 8333"/>
            </a:avLst>
          </a:prstGeom>
          <a:solidFill>
            <a:srgbClr val="11486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4315968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61304" y="4663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861304" y="491947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traceability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669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Parkland World Indonesia  ·  Jepara, Indonesia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59984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buyer and compliance review  ·  September 2026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818120" y="1417320"/>
            <a:ext cx="3794760" cy="3429000"/>
          </a:xfrm>
          <a:prstGeom prst="roundRect">
            <a:avLst>
              <a:gd name="adj" fmla="val 4267"/>
            </a:avLst>
          </a:prstGeom>
          <a:solidFill>
            <a:srgbClr val="FEFEFE"/>
          </a:solidFill>
          <a:ln/>
        </p:spPr>
      </p:sp>
      <p:pic>
        <p:nvPicPr>
          <p:cNvPr id="26" name="Image 4" descr="assets/nexa-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1627632"/>
            <a:ext cx="3300984" cy="27330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818120" y="50749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· Exchange · Verify · Track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Needle Control Matters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unaccounted needle fragment is a product safety issue. The control around it has to be provable, not merely claimed.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66928" cy="566928"/>
          </a:xfrm>
          <a:prstGeom prst="ellipse">
            <a:avLst/>
          </a:prstGeom>
          <a:solidFill>
            <a:srgbClr val="E6F2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711" y="1780703"/>
            <a:ext cx="260787" cy="2607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72768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broken needle is a contamination risk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01952"/>
            <a:ext cx="5532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fragment is not recovered, it may remain in the product or the workstation. Recovery must be verified at the moment of the exchange, not reconstructed later.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779776"/>
            <a:ext cx="566928" cy="566928"/>
          </a:xfrm>
          <a:prstGeom prst="ellipse">
            <a:avLst/>
          </a:prstGeom>
          <a:solidFill>
            <a:srgbClr val="E6F2F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11" y="2932847"/>
            <a:ext cx="260787" cy="2607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72491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needle policy demands documented control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54096"/>
            <a:ext cx="5532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broken needle has to be accounted for, with evidence and a clear decision trail for any case where a fragment is not found.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931920"/>
            <a:ext cx="566928" cy="566928"/>
          </a:xfrm>
          <a:prstGeom prst="ellipse">
            <a:avLst/>
          </a:prstGeom>
          <a:solidFill>
            <a:srgbClr val="E6F2F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11" y="4084991"/>
            <a:ext cx="260787" cy="26078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87705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records are difficult to verify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06240"/>
            <a:ext cx="5532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Handwritten logs and needles taped to forms are slow to complete, easy to fill in after the fact, and hard to search during an audit.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5084064"/>
            <a:ext cx="566928" cy="566928"/>
          </a:xfrm>
          <a:prstGeom prst="ellipse">
            <a:avLst/>
          </a:prstGeom>
          <a:solidFill>
            <a:srgbClr val="E6F2F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11" y="5237135"/>
            <a:ext cx="260787" cy="26078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29200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data, causes stay hidden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58384"/>
            <a:ext cx="5532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breakage on a machine or a line cannot be identified if consumption and breakage are never measured.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406640" y="1572768"/>
            <a:ext cx="4251960" cy="4498848"/>
          </a:xfrm>
          <a:prstGeom prst="roundRect">
            <a:avLst>
              <a:gd name="adj" fmla="val 3226"/>
            </a:avLst>
          </a:prstGeom>
          <a:solidFill>
            <a:srgbClr val="062B45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726680" y="18653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buyer audit needs to see</a:t>
            </a:r>
            <a:endParaRPr lang="en-US" sz="1650" dirty="0"/>
          </a:p>
        </p:txBody>
      </p:sp>
      <p:sp>
        <p:nvSpPr>
          <p:cNvPr id="22" name="Text 16"/>
          <p:cNvSpPr txBox="1"/>
          <p:nvPr/>
        </p:nvSpPr>
        <p:spPr>
          <a:xfrm>
            <a:off x="7726680" y="2395728"/>
            <a:ext cx="3657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broken needle accounted for, with the fragment outcome recorded at the time of the check.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that can be retrieved on request — not prepared specially for the visit.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 that cannot be bypassed by the person standing at the trolley.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process applied consistently across every line and every shift.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figures that reconcile with what was actually issued.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50292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Needle Exchange Assistant  ·  PT Parkland World Indonesia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NEXA?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11201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(Needle Exchange Assistant) </a:t>
            </a:r>
            <a:pPr indent="0" marL="0">
              <a:buNone/>
            </a:pPr>
            <a:r>
              <a:rPr lang="en-US" sz="145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our own digital system for controlling sewing machine needles — from warehouse stock, to the trolley serving each line, to the moment a needle is handed to an operator and the used needle is returned. It replaces handwritten needle logs with a guided process that records its own evidence.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901952"/>
            <a:ext cx="2651760" cy="3310128"/>
          </a:xfrm>
          <a:prstGeom prst="roundRect">
            <a:avLst>
              <a:gd name="adj" fmla="val 4483"/>
            </a:avLst>
          </a:prstGeom>
          <a:solidFill>
            <a:srgbClr val="F4F9FC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2139696"/>
            <a:ext cx="603504" cy="603504"/>
          </a:xfrm>
          <a:prstGeom prst="ellipse">
            <a:avLst/>
          </a:prstGeom>
          <a:solidFill>
            <a:srgbClr val="17699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610" y="2302642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0664" y="2871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7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0664" y="31455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input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0664" y="3529584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 taps their company ID card. Identity, line and section come from master data instead of handwriting, so the record starts correct.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46704" y="1901952"/>
            <a:ext cx="2651760" cy="3310128"/>
          </a:xfrm>
          <a:prstGeom prst="roundRect">
            <a:avLst>
              <a:gd name="adj" fmla="val 4483"/>
            </a:avLst>
          </a:prstGeom>
          <a:solidFill>
            <a:srgbClr val="F4F9FC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84448" y="2139696"/>
            <a:ext cx="603504" cy="603504"/>
          </a:xfrm>
          <a:prstGeom prst="ellipse">
            <a:avLst/>
          </a:prstGeom>
          <a:solidFill>
            <a:srgbClr val="17699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394" y="2302642"/>
            <a:ext cx="277612" cy="2776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84448" y="2871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7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584448" y="31455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process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584448" y="3529584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guided sequence on the trolley tablet keeps the exchange short, while stock at that trolley is checked and adjusted automatically.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90488" y="1901952"/>
            <a:ext cx="2651760" cy="3310128"/>
          </a:xfrm>
          <a:prstGeom prst="roundRect">
            <a:avLst>
              <a:gd name="adj" fmla="val 4483"/>
            </a:avLst>
          </a:prstGeom>
          <a:solidFill>
            <a:srgbClr val="F4F9FC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28232" y="2139696"/>
            <a:ext cx="603504" cy="603504"/>
          </a:xfrm>
          <a:prstGeom prst="ellipse">
            <a:avLst/>
          </a:prstGeom>
          <a:solidFill>
            <a:srgbClr val="EF7C2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178" y="2302642"/>
            <a:ext cx="277612" cy="2776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28232" y="2871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EF7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428232" y="31455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release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428232" y="3529584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broken needles the system requires a fragment answer and a photograph. If a fragment is missing, no replacement is released without approval.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34272" y="1901952"/>
            <a:ext cx="2651760" cy="3310128"/>
          </a:xfrm>
          <a:prstGeom prst="roundRect">
            <a:avLst>
              <a:gd name="adj" fmla="val 4483"/>
            </a:avLst>
          </a:prstGeom>
          <a:solidFill>
            <a:srgbClr val="F4F9FC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72016" y="2139696"/>
            <a:ext cx="603504" cy="603504"/>
          </a:xfrm>
          <a:prstGeom prst="ellipse">
            <a:avLst/>
          </a:prstGeom>
          <a:solidFill>
            <a:srgbClr val="17699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4962" y="2302642"/>
            <a:ext cx="277612" cy="27761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72016" y="2871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7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9272016" y="31455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traceability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9272016" y="3529584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exchange, decision and stock movement is stored permanently and can be searched by line, date, operator or needle type.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02920" y="5413248"/>
            <a:ext cx="11201400" cy="777240"/>
          </a:xfrm>
          <a:prstGeom prst="roundRect">
            <a:avLst>
              <a:gd name="adj" fmla="val 15294"/>
            </a:avLst>
          </a:prstGeom>
          <a:solidFill>
            <a:srgbClr val="E6F2F9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77240" y="5413248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in-house.  </a:t>
            </a:r>
            <a:pPr indent="0" marL="0">
              <a:buNone/>
            </a:pPr>
            <a:r>
              <a:rPr lang="en-US" sz="125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is built and operated by PT Parkland World Indonesia, running on trolley stations we assemble ourselves — so the process follows our line layout, our ID cards and our needle range, and can be replicated factory by factory.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50292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Needle Exchange Assistant  ·  PT Parkland World Indonesia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NEXA System at a Glance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2296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 — the production floor, one central record, and management access — with nothing stored twice.</a:t>
            </a:r>
            <a:endParaRPr lang="en-US" sz="1250" dirty="0"/>
          </a:p>
        </p:txBody>
      </p:sp>
      <p:pic>
        <p:nvPicPr>
          <p:cNvPr id="4" name="Image 0" descr="visuals/eco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389959"/>
            <a:ext cx="11201400" cy="480960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Needle Exchange Assistant  ·  PT Parkland World Indonesia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NEXA Trolley Station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2296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physical point of control on the production floor, assembled in-house from standard components.</a:t>
            </a:r>
            <a:endParaRPr lang="en-US" sz="1250" dirty="0"/>
          </a:p>
        </p:txBody>
      </p:sp>
      <p:pic>
        <p:nvPicPr>
          <p:cNvPr id="4" name="Image 0" descr="visuals/troll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457077"/>
            <a:ext cx="11201400" cy="46753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Needle Exchange Assistant  ·  PT Parkland World Indonesia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NEXA@Site — The Trolley Application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the needle PIC at the trolley. Designed so the fastest way to work is also the compliant way.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91056"/>
            <a:ext cx="475488" cy="475488"/>
          </a:xfrm>
          <a:prstGeom prst="ellipse">
            <a:avLst/>
          </a:prstGeom>
          <a:solidFill>
            <a:srgbClr val="E6F2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022" y="1719438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554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identified by ID card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828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 tap resolves the operator against HR master data — no name lists, no handwriting.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350008"/>
            <a:ext cx="475488" cy="475488"/>
          </a:xfrm>
          <a:prstGeom prst="ellipse">
            <a:avLst/>
          </a:prstGeom>
          <a:solidFill>
            <a:srgbClr val="E6F2F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2" y="2478390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3134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Guided, ordered steps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5877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must be completed before the next appears, so a record cannot be left partly filled.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475488" cy="475488"/>
          </a:xfrm>
          <a:prstGeom prst="ellipse">
            <a:avLst/>
          </a:prstGeom>
          <a:solidFill>
            <a:srgbClr val="E6F2F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3237342"/>
            <a:ext cx="218724" cy="2187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072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 control enforced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3467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broken needles the fragment question is mandatory and its answer is stored permanently.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867912"/>
            <a:ext cx="475488" cy="475488"/>
          </a:xfrm>
          <a:prstGeom prst="ellipse">
            <a:avLst/>
          </a:prstGeom>
          <a:solidFill>
            <a:srgbClr val="E6F2F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22" y="3996294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38313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evidence at the trolley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1188720" y="41056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tablet camera binds the image to that exchange at the moment it is taken.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626864"/>
            <a:ext cx="475488" cy="475488"/>
          </a:xfrm>
          <a:prstGeom prst="ellipse">
            <a:avLst/>
          </a:prstGeom>
          <a:solidFill>
            <a:srgbClr val="E6F2F9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022" y="4755246"/>
            <a:ext cx="218724" cy="2187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4590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without a network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1188720" y="4864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connectivity drops the exchange still runs and syncs afterwards without creating duplicates.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5385816"/>
            <a:ext cx="475488" cy="475488"/>
          </a:xfrm>
          <a:prstGeom prst="ellipse">
            <a:avLst/>
          </a:prstGeom>
          <a:solidFill>
            <a:srgbClr val="E6F2F9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22" y="5514198"/>
            <a:ext cx="218724" cy="21872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88720" y="5349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trolley stock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1188720" y="5623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by needle type is visible, and a replacement cannot be issued beyond what is held.</a:t>
            </a:r>
            <a:endParaRPr lang="en-US" sz="1100" dirty="0"/>
          </a:p>
        </p:txBody>
      </p:sp>
      <p:pic>
        <p:nvPicPr>
          <p:cNvPr id="28" name="Image 6" descr="visuals/tablet-u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80" y="1874520"/>
            <a:ext cx="5989320" cy="310632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897880" y="5053997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NEXA@Site — fragment verification step. Design screen; data shown is illustrative.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50292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Needle Exchange Assistant  ·  PT Parkland World Indonesia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NEXA@Office — Management &amp; Compliance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access for quality, inventory and management — and the surface an auditor can be shown directly.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91056"/>
            <a:ext cx="475488" cy="475488"/>
          </a:xfrm>
          <a:prstGeom prst="ellipse">
            <a:avLst/>
          </a:prstGeom>
          <a:solidFill>
            <a:srgbClr val="E6F2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022" y="1719438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Needle control dashboard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Exchanges, broken cases, fragment outcomes and open cases across factories and trolleys.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350008"/>
            <a:ext cx="475488" cy="475488"/>
          </a:xfrm>
          <a:prstGeom prst="ellipse">
            <a:avLst/>
          </a:prstGeom>
          <a:solidFill>
            <a:srgbClr val="E6F2F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2" y="2478390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313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any needle event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587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date, line, operator, needle type or reason, and open the original record.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475488" cy="475488"/>
          </a:xfrm>
          <a:prstGeom prst="ellipse">
            <a:avLst/>
          </a:prstGeom>
          <a:solidFill>
            <a:srgbClr val="E6F2F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3237342"/>
            <a:ext cx="218724" cy="2187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0723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of held cases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3467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Missing-fragment cases are decided here, and the decision is stored with identity and time.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867912"/>
            <a:ext cx="475488" cy="475488"/>
          </a:xfrm>
          <a:prstGeom prst="ellipse">
            <a:avLst/>
          </a:prstGeom>
          <a:solidFill>
            <a:srgbClr val="E6F2F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22" y="3996294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38313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and stock ledger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1188720" y="41056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Receiving, transfers to trolleys, counts and adjustments — every movement traceable.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626864"/>
            <a:ext cx="475488" cy="475488"/>
          </a:xfrm>
          <a:prstGeom prst="ellipse">
            <a:avLst/>
          </a:prstGeom>
          <a:solidFill>
            <a:srgbClr val="E6F2F9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022" y="4755246"/>
            <a:ext cx="218724" cy="2187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45902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and export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1188720" y="4864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results and their evidence can be exported for buyer review.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5385816"/>
            <a:ext cx="475488" cy="475488"/>
          </a:xfrm>
          <a:prstGeom prst="ellipse">
            <a:avLst/>
          </a:prstGeom>
          <a:solidFill>
            <a:srgbClr val="E6F2F9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22" y="5514198"/>
            <a:ext cx="218724" cy="21872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88720" y="5349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1188720" y="5623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actions are recorded with the user, the values before and after, and the timestamp.</a:t>
            </a:r>
            <a:endParaRPr lang="en-US" sz="1100" dirty="0"/>
          </a:p>
        </p:txBody>
      </p:sp>
      <p:pic>
        <p:nvPicPr>
          <p:cNvPr id="28" name="Image 6" descr="visuals/dashboard-u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240280"/>
            <a:ext cx="6126480" cy="2469737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760720" y="4783169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NEXA@Office dashboard. Design screen; figures shown are illustrative sample data.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50292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Needle Exchange Assistant  ·  PT Parkland World Indonesia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System Works — End to End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2296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needle exchange, as it runs at the trolley.</a:t>
            </a:r>
            <a:endParaRPr lang="en-US" sz="1250" dirty="0"/>
          </a:p>
        </p:txBody>
      </p:sp>
      <p:pic>
        <p:nvPicPr>
          <p:cNvPr id="4" name="Image 0" descr="visuals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513139"/>
            <a:ext cx="11201400" cy="41334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925312"/>
            <a:ext cx="11201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step can be skipped and nothing is written by hand. The record is a by-product of doing the work correctly.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Needle Exchange Assistant  ·  PT Parkland World Indonesia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Needle Control — The Critical Path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2296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a buyer cares about most: what happens when a fragment cannot be found.</a:t>
            </a:r>
            <a:endParaRPr lang="en-US" sz="1250" dirty="0"/>
          </a:p>
        </p:txBody>
      </p:sp>
      <p:pic>
        <p:nvPicPr>
          <p:cNvPr id="4" name="Image 0" descr="visuals/broke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010" y="1325880"/>
            <a:ext cx="9370931" cy="4937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Needle Exchange Assistant  ·  PT Parkland World Indonesia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and Approval of a Held Case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missing fragment is not a decision for the production floor. It is escalated, decided by an authorised person, and recorded.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438912" cy="438912"/>
          </a:xfrm>
          <a:prstGeom prst="ellipse">
            <a:avLst/>
          </a:prstGeom>
          <a:solidFill>
            <a:srgbClr val="17699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27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002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is held by the system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901952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exchange stops at the fragment step. No replacement needle can be issued while the case is open.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438912" cy="438912"/>
          </a:xfrm>
          <a:prstGeom prst="ellipse">
            <a:avLst/>
          </a:prstGeom>
          <a:solidFill>
            <a:srgbClr val="1769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48716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is carried out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788920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machine, the work area and the garment are searched, using the magnetic sweeper from the trolley.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438912" cy="438912"/>
          </a:xfrm>
          <a:prstGeom prst="ellipse">
            <a:avLst/>
          </a:prstGeom>
          <a:solidFill>
            <a:srgbClr val="EF7C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01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37413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Authorised approver is notified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675888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notification is sent immediately with the case details, so the response does not depend on someone walking to the line.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438912" cy="438912"/>
          </a:xfrm>
          <a:prstGeom prst="ellipse">
            <a:avLst/>
          </a:prstGeom>
          <a:solidFill>
            <a:srgbClr val="EF7C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288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26110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is made in NEXA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4562856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approver opens a secure page in NEXA@Office and records the decision — release with justification, or reject.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175504"/>
            <a:ext cx="438912" cy="438912"/>
          </a:xfrm>
          <a:prstGeom prst="ellipse">
            <a:avLst/>
          </a:prstGeom>
          <a:solidFill>
            <a:srgbClr val="EF7C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175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514807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is stored permanently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5449824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 identity, decision, reason and timestamp stay attached to the exchange record and appear in reporting.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49440" y="1627632"/>
            <a:ext cx="4709160" cy="3566160"/>
          </a:xfrm>
          <a:prstGeom prst="roundRect">
            <a:avLst>
              <a:gd name="adj" fmla="val 3846"/>
            </a:avLst>
          </a:prstGeom>
          <a:solidFill>
            <a:srgbClr val="E6F2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0" y="1627632"/>
            <a:ext cx="4709160" cy="548640"/>
          </a:xfrm>
          <a:prstGeom prst="roundRect">
            <a:avLst>
              <a:gd name="adj" fmla="val 25000"/>
            </a:avLst>
          </a:prstGeom>
          <a:solidFill>
            <a:srgbClr val="0B3C5D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6328" y="1764792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607808" y="1627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notification to the approver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223760" y="2359152"/>
            <a:ext cx="4160520" cy="221284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452360" y="2505456"/>
            <a:ext cx="3703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Approval required
</a:t>
            </a:r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EF7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needle, fragment not found
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A  ·  Trolley A-01  ·  Line 4
Operator  EMP00123
Needle  DBx1 #11
Raised  09:21  ·  PIC001
Status  HELD — no replacement issued
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452360" y="4114800"/>
            <a:ext cx="3703320" cy="347472"/>
          </a:xfrm>
          <a:prstGeom prst="roundRect">
            <a:avLst>
              <a:gd name="adj" fmla="val 50000"/>
            </a:avLst>
          </a:prstGeom>
          <a:solidFill>
            <a:srgbClr val="17699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452360" y="41148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SECURE APPROVAL PAGE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223760" y="462686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notification only alerts. It carries no approval power — the decision is made and stored inside NEXA.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02920" y="6053328"/>
            <a:ext cx="11155680" cy="292608"/>
          </a:xfrm>
          <a:prstGeom prst="roundRect">
            <a:avLst>
              <a:gd name="adj" fmla="val 31250"/>
            </a:avLst>
          </a:prstGeom>
          <a:solidFill>
            <a:srgbClr val="FDF0E5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02920" y="60533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a decision is recorded, the case stays open and visible on the dashboard — it cannot be quietly dropped.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50292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Needle Exchange Assistant  ·  PT Parkland World Indonesia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Recorded for Every Exchange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2296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exchange produces one permanent record — this is what is opened during an audit.</a:t>
            </a:r>
            <a:endParaRPr lang="en-US" sz="1250" dirty="0"/>
          </a:p>
        </p:txBody>
      </p:sp>
      <p:pic>
        <p:nvPicPr>
          <p:cNvPr id="4" name="Image 0" descr="visuals/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610487"/>
            <a:ext cx="11201400" cy="43685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Needle Exchange Assistant  ·  PT Parkland World Indonesia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and Audit Readiness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2296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 the chain in either direction — from a line and a date to a single needle event, and back again.</a:t>
            </a:r>
            <a:endParaRPr lang="en-US" sz="1250" dirty="0"/>
          </a:p>
        </p:txBody>
      </p:sp>
      <p:pic>
        <p:nvPicPr>
          <p:cNvPr id="4" name="Image 0" descr="visuals/trace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350818"/>
            <a:ext cx="11201400" cy="48878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Needle Exchange Assistant  ·  PT Parkland World Indonesia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and Data Integrity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that protect the record itself, so the evidence remains credible over time.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3566160" cy="2048256"/>
          </a:xfrm>
          <a:prstGeom prst="roundRect">
            <a:avLst>
              <a:gd name="adj" fmla="val 5357"/>
            </a:avLst>
          </a:prstGeom>
          <a:solidFill>
            <a:srgbClr val="F4F9FC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74520"/>
            <a:ext cx="548640" cy="548640"/>
          </a:xfrm>
          <a:prstGeom prst="ellipse">
            <a:avLst/>
          </a:prstGeom>
          <a:solidFill>
            <a:srgbClr val="17699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02265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53896" y="19568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560320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Needle PIC, inventory, management and administrator each see and do only what their role allows. The PIC at the trolley cannot change master data.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15968" y="1627632"/>
            <a:ext cx="3566160" cy="2048256"/>
          </a:xfrm>
          <a:prstGeom prst="roundRect">
            <a:avLst>
              <a:gd name="adj" fmla="val 5357"/>
            </a:avLst>
          </a:prstGeom>
          <a:solidFill>
            <a:srgbClr val="F4F9FC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62856" y="1874520"/>
            <a:ext cx="548640" cy="548640"/>
          </a:xfrm>
          <a:prstGeom prst="ellipse">
            <a:avLst/>
          </a:prstGeom>
          <a:solidFill>
            <a:srgbClr val="17699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989" y="202265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66944" y="19568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per factory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562856" y="2560320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is limited to the factory and locations a user is responsible for, so data from one site is not editable from another.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29016" y="1627632"/>
            <a:ext cx="3566160" cy="2048256"/>
          </a:xfrm>
          <a:prstGeom prst="roundRect">
            <a:avLst>
              <a:gd name="adj" fmla="val 5357"/>
            </a:avLst>
          </a:prstGeom>
          <a:solidFill>
            <a:srgbClr val="F4F9FC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75904" y="1874520"/>
            <a:ext cx="548640" cy="548640"/>
          </a:xfrm>
          <a:prstGeom prst="ellipse">
            <a:avLst/>
          </a:prstGeom>
          <a:solidFill>
            <a:srgbClr val="17699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02265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79992" y="19568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hard deletion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75904" y="2560320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completed exchange is never removed. Corrections are made through a documented reversal or adjustment, and both entries remain visible.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3877056"/>
            <a:ext cx="3566160" cy="2048256"/>
          </a:xfrm>
          <a:prstGeom prst="roundRect">
            <a:avLst>
              <a:gd name="adj" fmla="val 5357"/>
            </a:avLst>
          </a:prstGeom>
          <a:solidFill>
            <a:srgbClr val="F4F9FC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4123944"/>
            <a:ext cx="548640" cy="548640"/>
          </a:xfrm>
          <a:prstGeom prst="ellipse">
            <a:avLst/>
          </a:prstGeom>
          <a:solidFill>
            <a:srgbClr val="17699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272077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53896" y="4206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audit trail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809744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actions record the user, the action, the values before and after, the device and the time.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15968" y="3877056"/>
            <a:ext cx="3566160" cy="2048256"/>
          </a:xfrm>
          <a:prstGeom prst="roundRect">
            <a:avLst>
              <a:gd name="adj" fmla="val 5357"/>
            </a:avLst>
          </a:prstGeom>
          <a:solidFill>
            <a:srgbClr val="F4F9FC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62856" y="4123944"/>
            <a:ext cx="548640" cy="548640"/>
          </a:xfrm>
          <a:prstGeom prst="ellipse">
            <a:avLst/>
          </a:prstGeom>
          <a:solidFill>
            <a:srgbClr val="17699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989" y="4272077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66944" y="4206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integrity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562856" y="4809744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Exchanges captured without a network keep the same mandatory fields, and retried synchronisation cannot create a duplicate record.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29016" y="3877056"/>
            <a:ext cx="3566160" cy="2048256"/>
          </a:xfrm>
          <a:prstGeom prst="roundRect">
            <a:avLst>
              <a:gd name="adj" fmla="val 5357"/>
            </a:avLst>
          </a:prstGeom>
          <a:solidFill>
            <a:srgbClr val="F4F9FC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75904" y="4123944"/>
            <a:ext cx="548640" cy="548640"/>
          </a:xfrm>
          <a:prstGeom prst="ellipse">
            <a:avLst/>
          </a:prstGeom>
          <a:solidFill>
            <a:srgbClr val="17699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037" y="4272077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79992" y="4206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devices only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375904" y="4809744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tablet is registered and bound to one trolley and factory. An unregistered device cannot create transactions.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50292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Needle Exchange Assistant  ·  PT Parkland World Indonesia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We Hold Ourselves To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targets for NEXA once live, reported to management and available for buyer review.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6F2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" y="1792224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7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7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54203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needles with a recorded fragment outcome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316382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case answered and stored at the time of the check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5968" y="1645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6F2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792224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7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54203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exchanges with photo evidence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16382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 cannot complete without an image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29016" y="1645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6F2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85048" y="1792224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7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54203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missing-fragment cases with a recorded decision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85048" y="316382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case closed without an approver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DF0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" y="400507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F7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7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475488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replacements issued while a case is open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537667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by the system, not by supervision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15968" y="3858768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6F2F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0" y="400507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7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</a:t>
            </a:r>
            <a:endParaRPr lang="en-US" sz="37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75488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needle exchanges captured digitally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537667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against production records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29016" y="3858768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6F2F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85048" y="400507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7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700" dirty="0"/>
          </a:p>
        </p:txBody>
      </p:sp>
      <p:sp>
        <p:nvSpPr>
          <p:cNvPr id="26" name="Text 24"/>
          <p:cNvSpPr txBox="1"/>
          <p:nvPr/>
        </p:nvSpPr>
        <p:spPr>
          <a:xfrm>
            <a:off x="8385048" y="475488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movements traceable to a source transaction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385048" y="537667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reconcile to events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163056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targets the system is designed to enforce; performance against them will be reported from live NEXA data once the pilot is running.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Needle Exchange Assistant  ·  PT Parkland World Indonesia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20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Status and Roadmap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is under development. The plan is deliberately staged, with a single pilot factory proving the process before any wider rollout.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566160" cy="2048256"/>
          </a:xfrm>
          <a:prstGeom prst="roundRect">
            <a:avLst>
              <a:gd name="adj" fmla="val 5357"/>
            </a:avLst>
          </a:prstGeom>
          <a:solidFill>
            <a:srgbClr val="F4F9FC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74520" y="181051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90" kern="0" dirty="0">
                <a:solidFill>
                  <a:srgbClr val="17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" y="2103120"/>
            <a:ext cx="457200" cy="457200"/>
          </a:xfrm>
          <a:prstGeom prst="ellipse">
            <a:avLst/>
          </a:prstGeom>
          <a:solidFill>
            <a:srgbClr val="17699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066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44168" y="21579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2724912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platform, access control and master data: factories, trolleys, employees, ID cards, needle types.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1645920"/>
            <a:ext cx="3566160" cy="2048256"/>
          </a:xfrm>
          <a:prstGeom prst="roundRect">
            <a:avLst>
              <a:gd name="adj" fmla="val 5357"/>
            </a:avLst>
          </a:prstGeom>
          <a:solidFill>
            <a:srgbClr val="F4F9FC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87568" y="181051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90" kern="0" dirty="0">
                <a:solidFill>
                  <a:srgbClr val="17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53712" y="2103120"/>
            <a:ext cx="457200" cy="457200"/>
          </a:xfrm>
          <a:prstGeom prst="ellipse">
            <a:avLst/>
          </a:prstGeom>
          <a:solidFill>
            <a:srgbClr val="17699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5371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57216" y="21579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Trolley application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2724912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NEXA@Site on the tablet: identification, guided exchange, camera and offline operation.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9016" y="1645920"/>
            <a:ext cx="3566160" cy="2048256"/>
          </a:xfrm>
          <a:prstGeom prst="roundRect">
            <a:avLst>
              <a:gd name="adj" fmla="val 5357"/>
            </a:avLst>
          </a:prstGeom>
          <a:solidFill>
            <a:srgbClr val="F4F9FC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0616" y="181051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90" kern="0" dirty="0">
                <a:solidFill>
                  <a:srgbClr val="17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366760" y="2103120"/>
            <a:ext cx="457200" cy="457200"/>
          </a:xfrm>
          <a:prstGeom prst="ellipse">
            <a:avLst/>
          </a:prstGeom>
          <a:solidFill>
            <a:srgbClr val="17699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6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970264" y="21579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control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724912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and trolley stock, transfers, counts and the stock ledger.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858768"/>
            <a:ext cx="3566160" cy="2048256"/>
          </a:xfrm>
          <a:prstGeom prst="roundRect">
            <a:avLst>
              <a:gd name="adj" fmla="val 5357"/>
            </a:avLst>
          </a:prstGeom>
          <a:solidFill>
            <a:srgbClr val="F4F9FC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874520" y="402336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90" kern="0" dirty="0">
                <a:solidFill>
                  <a:srgbClr val="17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0664" y="4315968"/>
            <a:ext cx="457200" cy="457200"/>
          </a:xfrm>
          <a:prstGeom prst="ellipse">
            <a:avLst/>
          </a:prstGeom>
          <a:solidFill>
            <a:srgbClr val="17699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0664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44168" y="437083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approval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40664" y="4937760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 control gate, escalation, notification and the secure approval decision.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15968" y="3858768"/>
            <a:ext cx="3566160" cy="2048256"/>
          </a:xfrm>
          <a:prstGeom prst="roundRect">
            <a:avLst>
              <a:gd name="adj" fmla="val 5357"/>
            </a:avLst>
          </a:prstGeom>
          <a:solidFill>
            <a:srgbClr val="F4F9FC"/>
          </a:solidFill>
          <a:ln w="12700">
            <a:solidFill>
              <a:srgbClr val="CBD9E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87568" y="402336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90" kern="0" dirty="0">
                <a:solidFill>
                  <a:srgbClr val="17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53712" y="4315968"/>
            <a:ext cx="457200" cy="457200"/>
          </a:xfrm>
          <a:prstGeom prst="ellipse">
            <a:avLst/>
          </a:prstGeom>
          <a:solidFill>
            <a:srgbClr val="17699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53712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157216" y="437083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reporting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4553712" y="4937760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NEXA@Office dashboard, analytics and exportable compliance reports.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29016" y="3858768"/>
            <a:ext cx="3566160" cy="2048256"/>
          </a:xfrm>
          <a:prstGeom prst="roundRect">
            <a:avLst>
              <a:gd name="adj" fmla="val 5357"/>
            </a:avLst>
          </a:prstGeom>
          <a:solidFill>
            <a:srgbClr val="062B45"/>
          </a:solidFill>
          <a:ln w="12700">
            <a:solidFill>
              <a:srgbClr val="062B4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500616" y="402336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90" kern="0" dirty="0">
                <a:solidFill>
                  <a:srgbClr val="EF7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TARGET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366760" y="4315968"/>
            <a:ext cx="457200" cy="457200"/>
          </a:xfrm>
          <a:prstGeom prst="ellipse">
            <a:avLst/>
          </a:prstGeom>
          <a:solidFill>
            <a:srgbClr val="EF7C2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3667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970264" y="437083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&amp; rollout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66760" y="4937760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factory, three trolley stations. Evaluate, then extend factory by factory.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6035040"/>
            <a:ext cx="11201400" cy="384048"/>
          </a:xfrm>
          <a:prstGeom prst="roundRect">
            <a:avLst>
              <a:gd name="adj" fmla="val 28571"/>
            </a:avLst>
          </a:prstGeom>
          <a:solidFill>
            <a:srgbClr val="E6F2F9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02920" y="6035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status: design and development. Screens shown in this presentation are design references, and the figures in them are illustrative rather than production data.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0292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Needle Exchange Assistant  ·  PT Parkland World Indonesia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Summary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53312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turns needle handling from a paper record into a controlled process that produces its own evidence. The same system that keeps the line moving is the system an auditor can be shown.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2395728"/>
            <a:ext cx="5120640" cy="1225296"/>
          </a:xfrm>
          <a:prstGeom prst="roundRect">
            <a:avLst>
              <a:gd name="adj" fmla="val 8955"/>
            </a:avLst>
          </a:prstGeom>
          <a:solidFill>
            <a:srgbClr val="11486E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2615184"/>
            <a:ext cx="493776" cy="493776"/>
          </a:xfrm>
          <a:prstGeom prst="ellipse">
            <a:avLst/>
          </a:prstGeom>
          <a:solidFill>
            <a:srgbClr val="17699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016" y="2748504"/>
            <a:ext cx="227137" cy="2271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73352" y="25786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that cannot be bypassed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673352" y="2907792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broken needle with a missing fragment stops the exchange until an authorised person decides.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2395728"/>
            <a:ext cx="5120640" cy="1225296"/>
          </a:xfrm>
          <a:prstGeom prst="roundRect">
            <a:avLst>
              <a:gd name="adj" fmla="val 8955"/>
            </a:avLst>
          </a:prstGeom>
          <a:solidFill>
            <a:srgbClr val="11486E"/>
          </a:solidFill>
          <a:ln/>
        </p:spPr>
      </p:sp>
      <p:sp>
        <p:nvSpPr>
          <p:cNvPr id="10" name="Shape 7"/>
          <p:cNvSpPr/>
          <p:nvPr/>
        </p:nvSpPr>
        <p:spPr>
          <a:xfrm>
            <a:off x="6437376" y="2615184"/>
            <a:ext cx="493776" cy="493776"/>
          </a:xfrm>
          <a:prstGeom prst="ellipse">
            <a:avLst/>
          </a:prstGeom>
          <a:solidFill>
            <a:srgbClr val="17699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696" y="2748504"/>
            <a:ext cx="227137" cy="2271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14032" y="25786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as a by-product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114032" y="2907792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needle, reason, fragment outcome and photograph are captured while the work happens.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77240" y="3813048"/>
            <a:ext cx="5120640" cy="1225296"/>
          </a:xfrm>
          <a:prstGeom prst="roundRect">
            <a:avLst>
              <a:gd name="adj" fmla="val 8955"/>
            </a:avLst>
          </a:prstGeom>
          <a:solidFill>
            <a:srgbClr val="11486E"/>
          </a:solidFill>
          <a:ln/>
        </p:spPr>
      </p:sp>
      <p:sp>
        <p:nvSpPr>
          <p:cNvPr id="15" name="Shape 11"/>
          <p:cNvSpPr/>
          <p:nvPr/>
        </p:nvSpPr>
        <p:spPr>
          <a:xfrm>
            <a:off x="996696" y="4032504"/>
            <a:ext cx="493776" cy="493776"/>
          </a:xfrm>
          <a:prstGeom prst="ellipse">
            <a:avLst/>
          </a:prstGeom>
          <a:solidFill>
            <a:srgbClr val="17699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016" y="4165824"/>
            <a:ext cx="227137" cy="22713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73352" y="39959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in seconds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673352" y="4325112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needle event can be retrieved by line, date, operator or needle type, with its original evidence.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813048"/>
            <a:ext cx="5120640" cy="1225296"/>
          </a:xfrm>
          <a:prstGeom prst="roundRect">
            <a:avLst>
              <a:gd name="adj" fmla="val 8955"/>
            </a:avLst>
          </a:prstGeom>
          <a:solidFill>
            <a:srgbClr val="11486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37376" y="4032504"/>
            <a:ext cx="493776" cy="493776"/>
          </a:xfrm>
          <a:prstGeom prst="ellipse">
            <a:avLst/>
          </a:prstGeom>
          <a:solidFill>
            <a:srgbClr val="17699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696" y="4165824"/>
            <a:ext cx="227137" cy="22713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14032" y="39959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across factories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114032" y="4325112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process, one record structure, extended trolley by trolley and site by site.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857232" y="566928"/>
            <a:ext cx="1920240" cy="1572768"/>
          </a:xfrm>
          <a:prstGeom prst="roundRect">
            <a:avLst>
              <a:gd name="adj" fmla="val 6977"/>
            </a:avLst>
          </a:prstGeom>
          <a:solidFill>
            <a:srgbClr val="FEFEFE"/>
          </a:solidFill>
          <a:ln/>
        </p:spPr>
      </p:sp>
      <p:pic>
        <p:nvPicPr>
          <p:cNvPr id="25" name="Image 4" descr="assets/nexa-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1824" y="713232"/>
            <a:ext cx="1591056" cy="131729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77240" y="5504688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 ·  Exchange  ·  Verify  ·  Track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777240" y="596188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Parkland World Indonesia  ·  Jepara  ·  September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 — Needle Exchange Assistant</dc:title>
  <dc:subject>PptxGenJS Presentation</dc:subject>
  <dc:creator>PT Parkland World Indonesia</dc:creator>
  <cp:lastModifiedBy>PT Parkland World Indonesia</cp:lastModifiedBy>
  <cp:revision>1</cp:revision>
  <dcterms:created xsi:type="dcterms:W3CDTF">2026-09-18T09:12:12Z</dcterms:created>
  <dcterms:modified xsi:type="dcterms:W3CDTF">2026-09-18T09:12:12Z</dcterms:modified>
</cp:coreProperties>
</file>